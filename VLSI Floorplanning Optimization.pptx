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0F0AAE-A134-4052-8B42-78C580F6634A}">
  <a:tblStyle styleId="{550F0AAE-A134-4052-8B42-78C580F663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427857"/>
            <a:ext cx="11601450" cy="132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Area and Wirelength Optimization in VLSI Floorplanning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2896492"/>
            <a:ext cx="8572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Using Stockmeyer, HPWL and Simulated Annealing Techniques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949625" y="4742625"/>
            <a:ext cx="3633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23BVD1006 M Ramya Sree</a:t>
            </a:r>
            <a:endParaRPr sz="15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23BVD1030  R Sandhyaa,</a:t>
            </a:r>
            <a:endParaRPr sz="15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23BVD1044 </a:t>
            </a:r>
            <a:r>
              <a:rPr lang="en-US" sz="1500" b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Tejasvini R,</a:t>
            </a:r>
            <a:endParaRPr sz="15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23BVD1061 </a:t>
            </a:r>
            <a:r>
              <a:rPr lang="en-US" sz="1500" b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Jagarakshitha V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02575" y="3908325"/>
            <a:ext cx="6292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BEVD303L - CAD FOR IC DESIGN</a:t>
            </a:r>
            <a:endParaRPr sz="21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685925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main goal is to minimize the total chip cost by optimizing two key metrics: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362450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Our approach implements and compares a hybrid flow of algorithms to achieve a globally optimal and physically constrained floorplan.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495425"/>
            <a:ext cx="5248275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42950" y="25050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25050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Chip Area: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Reducing the physical silicon footprint to lower manufacturing costs.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42950" y="32194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2194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Wirelength (HPWL):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Minimizing interconnect lengths to reduce signal delay, power consumption, and improve performance.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76375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76375"/>
            <a:ext cx="3429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95813" y="2486025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Stockmeyer Algorithm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50520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dynamic programming algorithm to find the minimal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area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for a slicing floorplan from a given Polish expression.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180885" y="2486025"/>
            <a:ext cx="18302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HPWL Model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6775" y="316230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Half-Perimeter Wirelength. A fast, efficient model to estimate the total interconnect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wirelength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cost.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45817" y="2486025"/>
            <a:ext cx="292036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Simulated Annealing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86775" y="3162300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stochastic optimization method to find a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global minimum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by exploring the solution space and escaping local minima.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17907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1790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17907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Algorithms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80" y="1414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6668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Based on the initial Polish expression: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B3 B7 H B5 B1 V B8 B2 H V B4 V B6 V H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4288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direct translation results in a non-optimal layout with significant wasted space.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Initial Floorplan (Before)</a:t>
            </a:r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0550" y="3358300"/>
            <a:ext cx="2598925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14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1299250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Stockmeyer algorithm is applied to find the optimal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area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configuration for the same slicing structure.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463" y="2018800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It intelligently rearranges blocks to minimize dead space and create a compact layout.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475" y="2738350"/>
            <a:ext cx="55506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Inputs:</a:t>
            </a:r>
            <a:endParaRPr sz="2100" b="1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500">
                <a:solidFill>
                  <a:srgbClr val="121212"/>
                </a:solidFill>
                <a:latin typeface="Merriweather"/>
                <a:ea typeface="Merriweather"/>
                <a:cs typeface="Merriweather"/>
                <a:sym typeface="Merriweather"/>
              </a:rPr>
              <a:t>Set of Blocks</a:t>
            </a:r>
            <a:endParaRPr sz="1500">
              <a:solidFill>
                <a:srgbClr val="12121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500">
                <a:solidFill>
                  <a:srgbClr val="121212"/>
                </a:solidFill>
                <a:latin typeface="Merriweather"/>
                <a:ea typeface="Merriweather"/>
                <a:cs typeface="Merriweather"/>
                <a:sym typeface="Merriweather"/>
              </a:rPr>
              <a:t>Possible Block Shapes</a:t>
            </a:r>
            <a:endParaRPr sz="1500">
              <a:solidFill>
                <a:srgbClr val="12121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Polish Expression</a:t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Stockmeyer Optimization (After)</a:t>
            </a:r>
            <a:endParaRPr/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4289200"/>
            <a:ext cx="3277475" cy="22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2857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p18"/>
          <p:cNvGraphicFramePr/>
          <p:nvPr/>
        </p:nvGraphicFramePr>
        <p:xfrm>
          <a:off x="1123950" y="1476375"/>
          <a:ext cx="9944100" cy="1905000"/>
        </p:xfrm>
        <a:graphic>
          <a:graphicData uri="http://schemas.openxmlformats.org/drawingml/2006/table">
            <a:tbl>
              <a:tblPr firstRow="1" bandRow="1">
                <a:noFill/>
                <a:tableStyleId>{550F0AAE-A134-4052-8B42-78C580F6634A}</a:tableStyleId>
              </a:tblPr>
              <a:tblGrid>
                <a:gridCol w="345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Floorplan Stage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Width (W)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Height (H)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Area (A = W × 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Initial Floorplan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Stockmeyer Optimized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1" name="Google Shape;151;p18"/>
          <p:cNvSpPr/>
          <p:nvPr/>
        </p:nvSpPr>
        <p:spPr>
          <a:xfrm>
            <a:off x="1123950" y="2100262"/>
            <a:ext cx="3457575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581525" y="2100262"/>
            <a:ext cx="1880145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461670" y="2100262"/>
            <a:ext cx="1955899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417569" y="2100262"/>
            <a:ext cx="2650480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1123950" y="2738437"/>
            <a:ext cx="3457575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581525" y="2738437"/>
            <a:ext cx="1880145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461670" y="2738437"/>
            <a:ext cx="1955899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417569" y="2738437"/>
            <a:ext cx="2650480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Area Optimization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625441" y="561600"/>
            <a:ext cx="8941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Wirelength Optimization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90250" y="1577075"/>
            <a:ext cx="11362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Applying HPWL and Simulated Annealing (SA) to the</a:t>
            </a:r>
            <a:r>
              <a:rPr lang="en-US" sz="21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Stockmeyer floorplan to reduce interconnect costs.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51250" y="2876125"/>
            <a:ext cx="3323100" cy="21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Inputs:</a:t>
            </a:r>
            <a:endParaRPr sz="2100" b="1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●"/>
            </a:pPr>
            <a:r>
              <a:rPr lang="en-US" sz="1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Block Dimensions</a:t>
            </a:r>
            <a:endParaRPr sz="1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●"/>
            </a:pPr>
            <a:r>
              <a:rPr lang="en-US" sz="1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Netlist</a:t>
            </a:r>
            <a:endParaRPr sz="1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Net1:</a:t>
            </a:r>
            <a:r>
              <a:rPr lang="en-US">
                <a:solidFill>
                  <a:schemeClr val="dk1"/>
                </a:solidFill>
              </a:rPr>
              <a:t> B1, B3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Net2:</a:t>
            </a:r>
            <a:r>
              <a:rPr lang="en-US">
                <a:solidFill>
                  <a:schemeClr val="dk1"/>
                </a:solidFill>
              </a:rPr>
              <a:t> B2, B4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Net3:</a:t>
            </a:r>
            <a:r>
              <a:rPr lang="en-US">
                <a:solidFill>
                  <a:schemeClr val="dk1"/>
                </a:solidFill>
              </a:rPr>
              <a:t> B1, B2, B5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Net4:</a:t>
            </a:r>
            <a:r>
              <a:rPr lang="en-US">
                <a:solidFill>
                  <a:schemeClr val="dk1"/>
                </a:solidFill>
              </a:rPr>
              <a:t> B3, B4, B5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Net5:</a:t>
            </a:r>
            <a:r>
              <a:rPr lang="en-US">
                <a:solidFill>
                  <a:schemeClr val="dk1"/>
                </a:solidFill>
              </a:rPr>
              <a:t> B1, B4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675" y="5912225"/>
            <a:ext cx="48925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2925" y="2197400"/>
            <a:ext cx="4960975" cy="35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FD0E14-5622-5186-BA64-A1A554669CD9}"/>
              </a:ext>
            </a:extLst>
          </p:cNvPr>
          <p:cNvSpPr txBox="1"/>
          <p:nvPr/>
        </p:nvSpPr>
        <p:spPr>
          <a:xfrm>
            <a:off x="6529754" y="5706577"/>
            <a:ext cx="4474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FLOORPLAN OF HPWL MODEL (LOCAL MINIMA)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1666875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Both the model is modified to enforce the Stockmeyer-generated boundary (W=13, H=9) as a </a:t>
            </a:r>
            <a:r>
              <a:rPr lang="en-US" sz="15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fixed constraint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619375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prevents the floorplan from expanding or contracting, ensuring a dimensionally consistent layout.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488" y="3333750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result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balances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area compactness with wirelength reduction.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4048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Final Stats: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42950" y="45339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09625" y="4533900"/>
            <a:ext cx="50482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HPWL</a:t>
            </a:r>
            <a:r>
              <a:rPr lang="en-US" sz="15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LOCAL MINIMA : </a:t>
            </a:r>
            <a:endParaRPr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742950" y="49625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09625" y="4962525"/>
            <a:ext cx="50482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HPWL GLOBAL MINIMA (SIMULATED ANNEALING):</a:t>
            </a:r>
            <a:endParaRPr dirty="0"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71500"/>
            <a:ext cx="116016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5088"/>
                </a:solidFill>
                <a:latin typeface="Merriweather"/>
                <a:sym typeface="Merriweather"/>
              </a:rPr>
              <a:t>SIMULATED ANNEALING </a:t>
            </a:r>
            <a:endParaRPr dirty="0"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25" y="14763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A26233-EBD5-7F24-DC25-CA5A77562A11}"/>
              </a:ext>
            </a:extLst>
          </p:cNvPr>
          <p:cNvSpPr txBox="1"/>
          <p:nvPr/>
        </p:nvSpPr>
        <p:spPr>
          <a:xfrm>
            <a:off x="6827227" y="5848647"/>
            <a:ext cx="5079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FLOORPLAN AFTER SIMULATED ANNEALING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133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1"/>
          <p:cNvGraphicFramePr/>
          <p:nvPr>
            <p:extLst>
              <p:ext uri="{D42A27DB-BD31-4B8C-83A1-F6EECF244321}">
                <p14:modId xmlns:p14="http://schemas.microsoft.com/office/powerpoint/2010/main" val="3435836709"/>
              </p:ext>
            </p:extLst>
          </p:nvPr>
        </p:nvGraphicFramePr>
        <p:xfrm>
          <a:off x="1123950" y="1476375"/>
          <a:ext cx="9944075" cy="2545100"/>
        </p:xfrm>
        <a:graphic>
          <a:graphicData uri="http://schemas.openxmlformats.org/drawingml/2006/table">
            <a:tbl>
              <a:tblPr firstRow="1" bandRow="1">
                <a:noFill/>
                <a:tableStyleId>{550F0AAE-A134-4052-8B42-78C580F6634A}</a:tableStyleId>
              </a:tblPr>
              <a:tblGrid>
                <a:gridCol w="344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Optimization Stage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Wirelength (HPWL)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Total Cost (Area + HPWL)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Stockmeyer Floorplan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37.00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154.00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HPWL + Stockmeyer(constrained)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31.00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148.00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SA + Stockmeyer(constrained)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33.50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150.50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3" name="Google Shape;193;p21"/>
          <p:cNvSpPr/>
          <p:nvPr/>
        </p:nvSpPr>
        <p:spPr>
          <a:xfrm>
            <a:off x="1123950" y="2100262"/>
            <a:ext cx="3446710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0660" y="2100262"/>
            <a:ext cx="2930276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500937" y="2100262"/>
            <a:ext cx="3567112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123950" y="2738437"/>
            <a:ext cx="3446710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570660" y="2738437"/>
            <a:ext cx="2930276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7500937" y="2738437"/>
            <a:ext cx="3567112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123950" y="3376612"/>
            <a:ext cx="3446710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570660" y="3376612"/>
            <a:ext cx="2930276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7500937" y="3376612"/>
            <a:ext cx="3567112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1123950" y="4014787"/>
            <a:ext cx="3446710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570660" y="4014787"/>
            <a:ext cx="2930276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500937" y="4014787"/>
            <a:ext cx="3567112" cy="9525"/>
          </a:xfrm>
          <a:prstGeom prst="rect">
            <a:avLst/>
          </a:prstGeom>
          <a:solidFill>
            <a:srgbClr val="D1CC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Wirelength Comparison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2190750" y="147637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Area Optimized: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Stockmeyer algorithm provides an excellent, area-efficient (35% reduction) starting point for the floorplan.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2190750" y="223837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Problem Identified: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Unconstrained HPWL and SA methods achieve low wirelength but are impractical as they violate physical design boundaries.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2190750" y="3000375"/>
            <a:ext cx="8191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Optimal Solution: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</a:t>
            </a: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Constrained HPWL model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is the superior solution. It maintains the compact area from Stockmeyer while achieving significant wirelength reduction.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2190750" y="40481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Final Takeaway: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This hybrid pipeline ensures a </a:t>
            </a: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dimensionally stable, area-efficient, and wirelength-optimized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floorplan, which is critical for practical VLSI implementation.</a:t>
            </a:r>
            <a:endParaRPr/>
          </a:p>
        </p:txBody>
      </p:sp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524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0480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0957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Office PowerPoint</Application>
  <PresentationFormat>Widescreen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Calibri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GEETHA</cp:lastModifiedBy>
  <cp:revision>1</cp:revision>
  <dcterms:modified xsi:type="dcterms:W3CDTF">2025-11-13T15:37:17Z</dcterms:modified>
</cp:coreProperties>
</file>